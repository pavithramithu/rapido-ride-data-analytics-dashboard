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EEE95ACF-6873-4445-914E-2C4FE1927869}"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824DAA8-79B9-45B9-A4DA-8D16D940B6A5}"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EEE95ACF-6873-4445-914E-2C4FE1927869}" type="datetimeFigureOut">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824DAA8-79B9-45B9-A4DA-8D16D940B6A5}"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EE95ACF-6873-4445-914E-2C4FE192786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DAA8-79B9-45B9-A4DA-8D16D940B6A5}"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EEE95ACF-6873-4445-914E-2C4FE192786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24DAA8-79B9-45B9-A4DA-8D16D940B6A5}"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EE95ACF-6873-4445-914E-2C4FE192786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24DAA8-79B9-45B9-A4DA-8D16D940B6A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5ACF-6873-4445-914E-2C4FE192786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24DAA8-79B9-45B9-A4DA-8D16D940B6A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EEE95ACF-6873-4445-914E-2C4FE192786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DAA8-79B9-45B9-A4DA-8D16D940B6A5}"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EEE95ACF-6873-4445-914E-2C4FE1927869}" type="datetimeFigureOut">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824DAA8-79B9-45B9-A4DA-8D16D940B6A5}"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EEE95ACF-6873-4445-914E-2C4FE1927869}" type="datetimeFigureOut">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824DAA8-79B9-45B9-A4DA-8D16D940B6A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7058052" cy="1752600"/>
          </a:xfrm>
        </p:spPr>
        <p:txBody>
          <a:bodyPr>
            <a:normAutofit/>
          </a:bodyPr>
          <a:lstStyle/>
          <a:p>
            <a:r>
              <a:rPr lang="en-IN" sz="2400" b="1" dirty="0" smtClean="0">
                <a:solidFill>
                  <a:schemeClr val="tx1"/>
                </a:solidFill>
                <a:latin typeface="Times New Roman" panose="02020603050405020304" pitchFamily="18" charset="0"/>
                <a:cs typeface="Times New Roman" panose="02020603050405020304" pitchFamily="18" charset="0"/>
              </a:rPr>
              <a:t>                                                         PRESENTED BY</a:t>
            </a:r>
            <a:endParaRPr lang="en-IN" sz="2400" b="1" dirty="0" smtClean="0">
              <a:solidFill>
                <a:schemeClr val="tx1"/>
              </a:solidFill>
              <a:latin typeface="Times New Roman" panose="02020603050405020304" pitchFamily="18" charset="0"/>
              <a:cs typeface="Times New Roman" panose="02020603050405020304" pitchFamily="18" charset="0"/>
            </a:endParaRPr>
          </a:p>
          <a:p>
            <a:r>
              <a:rPr lang="en-IN" sz="2400" b="1" dirty="0">
                <a:solidFill>
                  <a:schemeClr val="tx1"/>
                </a:solidFill>
                <a:latin typeface="Times New Roman" panose="02020603050405020304" pitchFamily="18" charset="0"/>
                <a:cs typeface="Times New Roman" panose="02020603050405020304" pitchFamily="18" charset="0"/>
              </a:rPr>
              <a:t> </a:t>
            </a:r>
            <a:r>
              <a:rPr lang="en-IN" sz="2400" b="1" dirty="0" smtClean="0">
                <a:solidFill>
                  <a:schemeClr val="tx1"/>
                </a:solidFill>
                <a:latin typeface="Times New Roman" panose="02020603050405020304" pitchFamily="18" charset="0"/>
                <a:cs typeface="Times New Roman" panose="02020603050405020304" pitchFamily="18" charset="0"/>
              </a:rPr>
              <a:t>                                                 </a:t>
            </a:r>
            <a:r>
              <a:rPr lang="en-US" altLang="en-IN" sz="2400" b="1" dirty="0" smtClean="0">
                <a:solidFill>
                  <a:schemeClr val="tx1"/>
                </a:solidFill>
                <a:latin typeface="Times New Roman" panose="02020603050405020304" pitchFamily="18" charset="0"/>
                <a:cs typeface="Times New Roman" panose="02020603050405020304" pitchFamily="18" charset="0"/>
              </a:rPr>
              <a:t>     PAVITHRA J</a:t>
            </a:r>
            <a:endParaRPr lang="en-US" altLang="en-IN" sz="2400" b="1" dirty="0" smtClean="0">
              <a:solidFill>
                <a:schemeClr val="tx1"/>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p:txBody>
          <a:bodyPr>
            <a:normAutofit/>
          </a:bodyPr>
          <a:lstStyle/>
          <a:p>
            <a:r>
              <a:rPr lang="en-IN" sz="4000" b="1" dirty="0" smtClean="0">
                <a:solidFill>
                  <a:schemeClr val="accent6">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RAPIDO RIDE PERFORMANCE</a:t>
            </a:r>
            <a:endParaRPr lang="en-US" sz="4000" b="1" dirty="0">
              <a:solidFill>
                <a:schemeClr val="accent6">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INTRODUCTION</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gn="just">
              <a:lnSpc>
                <a:spcPct val="150000"/>
              </a:lnSpc>
            </a:pPr>
            <a:r>
              <a:rPr lang="en-US" sz="2000" dirty="0" err="1" smtClean="0">
                <a:latin typeface="Times New Roman" panose="02020603050405020304" pitchFamily="18" charset="0"/>
                <a:cs typeface="Times New Roman" panose="02020603050405020304" pitchFamily="18" charset="0"/>
              </a:rPr>
              <a:t>Rapido</a:t>
            </a:r>
            <a:r>
              <a:rPr lang="en-US" sz="2000" dirty="0" smtClean="0">
                <a:latin typeface="Times New Roman" panose="02020603050405020304" pitchFamily="18" charset="0"/>
                <a:cs typeface="Times New Roman" panose="02020603050405020304" pitchFamily="18" charset="0"/>
              </a:rPr>
              <a:t> is a rapidly growing ride-sharing platform that generates a large volume of operational data every day, including ride details, revenue, service usage, and payment information. Analyzing this data is essential to understand ride demand patterns, service performance, revenue trends, and operational efficiency.</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Power BI is a powerful business intelligence and data visualization tool that converts raw data into interactive dashboards and insightful reports. It enables users to monitor key performance indicators (KPIs), identify trends, and make data-driven business decisions efficiently.</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PROBLEM STATEMENT</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gn="just">
              <a:lnSpc>
                <a:spcPct val="150000"/>
              </a:lnSpc>
            </a:pPr>
            <a:r>
              <a:rPr lang="en-US" sz="2000" dirty="0" err="1" smtClean="0">
                <a:latin typeface="Times New Roman" panose="02020603050405020304" pitchFamily="18" charset="0"/>
                <a:cs typeface="Times New Roman" panose="02020603050405020304" pitchFamily="18" charset="0"/>
              </a:rPr>
              <a:t>Rapido</a:t>
            </a:r>
            <a:r>
              <a:rPr lang="en-US" sz="2000" dirty="0" smtClean="0">
                <a:latin typeface="Times New Roman" panose="02020603050405020304" pitchFamily="18" charset="0"/>
                <a:cs typeface="Times New Roman" panose="02020603050405020304" pitchFamily="18" charset="0"/>
              </a:rPr>
              <a:t> ride data is large and operationally complex, making it difficult to monitor ride performance, revenue trends, service efficiency, and cancellation behavior using traditional spreadsheet analysis methods.</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Due to the absence of centralized analytics, management may struggle to make informed decisions regarding pricing strategy, service optimization, and performance improvement.</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This project aims to address these challenges by developing a </a:t>
            </a:r>
            <a:r>
              <a:rPr lang="en-US" sz="2000" b="1" dirty="0" err="1" smtClean="0">
                <a:latin typeface="Times New Roman" panose="02020603050405020304" pitchFamily="18" charset="0"/>
                <a:cs typeface="Times New Roman" panose="02020603050405020304" pitchFamily="18" charset="0"/>
              </a:rPr>
              <a:t>Rapido</a:t>
            </a:r>
            <a:r>
              <a:rPr lang="en-US" sz="2000" b="1" dirty="0" smtClean="0">
                <a:latin typeface="Times New Roman" panose="02020603050405020304" pitchFamily="18" charset="0"/>
                <a:cs typeface="Times New Roman" panose="02020603050405020304" pitchFamily="18" charset="0"/>
              </a:rPr>
              <a:t> Riders Analytics Dashboard using Power BI</a:t>
            </a:r>
            <a:r>
              <a:rPr lang="en-IN" sz="2000" b="1" dirty="0" smtClean="0">
                <a:latin typeface="Times New Roman" panose="02020603050405020304" pitchFamily="18" charset="0"/>
                <a:cs typeface="Times New Roman" panose="02020603050405020304" pitchFamily="18" charset="0"/>
              </a:rPr>
              <a:t> .</a:t>
            </a:r>
            <a:endParaRPr lang="en-US" sz="2000" b="1"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BUSINESS PROBLEM</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914400" y="1447800"/>
            <a:ext cx="7772400" cy="5053034"/>
          </a:xfrm>
        </p:spPr>
        <p:txBody>
          <a:bodyPr>
            <a:noAutofit/>
          </a:bodyPr>
          <a:lstStyle/>
          <a:p>
            <a:pPr>
              <a:lnSpc>
                <a:spcPct val="150000"/>
              </a:lnSpc>
            </a:pPr>
            <a:r>
              <a:rPr lang="en-US" sz="1900" dirty="0" smtClean="0">
                <a:latin typeface="Times New Roman" panose="02020603050405020304" pitchFamily="18" charset="0"/>
                <a:cs typeface="Times New Roman" panose="02020603050405020304" pitchFamily="18" charset="0"/>
              </a:rPr>
              <a:t>How is overall ride demand trending over time?</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Which service types (Auto, Bike, Cab Economy, Parcel) are generating the highest revenue?</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What is the current cancellation rate, and how is it impacting profitability?</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Are there identifiable peak demand periods that require better driver allocation?</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How efficient are rides in terms of duration, speed, and fare per KM?</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Which routes contribute most to total revenue?</a:t>
            </a:r>
            <a:endParaRPr lang="en-US" sz="1900" dirty="0" smtClean="0">
              <a:latin typeface="Times New Roman" panose="02020603050405020304" pitchFamily="18" charset="0"/>
              <a:cs typeface="Times New Roman" panose="02020603050405020304" pitchFamily="18" charset="0"/>
            </a:endParaRPr>
          </a:p>
          <a:p>
            <a:pPr>
              <a:lnSpc>
                <a:spcPct val="150000"/>
              </a:lnSpc>
            </a:pPr>
            <a:r>
              <a:rPr lang="en-US" sz="1900" dirty="0" smtClean="0">
                <a:latin typeface="Times New Roman" panose="02020603050405020304" pitchFamily="18" charset="0"/>
                <a:cs typeface="Times New Roman" panose="02020603050405020304" pitchFamily="18" charset="0"/>
              </a:rPr>
              <a:t>What payment methods do customers prefer, and how does it impact operations?</a:t>
            </a:r>
            <a:endParaRPr lang="en-US" sz="1900" dirty="0" smtClean="0">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DATA OVERVIEW</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r>
              <a:rPr lang="en-US" sz="2200" dirty="0" smtClean="0"/>
              <a:t>services (Auto, Bike, Cab Economy, Parcel)</a:t>
            </a:r>
            <a:endParaRPr lang="en-US" sz="2200" dirty="0" smtClean="0"/>
          </a:p>
          <a:p>
            <a:r>
              <a:rPr lang="en-US" sz="2200" dirty="0" smtClean="0"/>
              <a:t>date</a:t>
            </a:r>
            <a:endParaRPr lang="en-US" sz="2200" dirty="0" smtClean="0"/>
          </a:p>
          <a:p>
            <a:r>
              <a:rPr lang="en-US" sz="2200" dirty="0" smtClean="0"/>
              <a:t>ride status</a:t>
            </a:r>
            <a:endParaRPr lang="en-US" sz="2200" dirty="0" smtClean="0"/>
          </a:p>
          <a:p>
            <a:r>
              <a:rPr lang="en-US" sz="2200" dirty="0" smtClean="0"/>
              <a:t>source &amp; destination</a:t>
            </a:r>
            <a:endParaRPr lang="en-US" sz="2200" dirty="0" smtClean="0"/>
          </a:p>
          <a:p>
            <a:r>
              <a:rPr lang="en-US" sz="2200" dirty="0" smtClean="0"/>
              <a:t>duration</a:t>
            </a:r>
            <a:endParaRPr lang="en-US" sz="2200" dirty="0" smtClean="0"/>
          </a:p>
          <a:p>
            <a:r>
              <a:rPr lang="en-US" sz="2200" dirty="0" smtClean="0"/>
              <a:t>ride id</a:t>
            </a:r>
            <a:endParaRPr lang="en-US" sz="2200" dirty="0" smtClean="0"/>
          </a:p>
          <a:p>
            <a:r>
              <a:rPr lang="en-US" sz="2200" dirty="0" smtClean="0"/>
              <a:t>distance</a:t>
            </a:r>
            <a:endParaRPr lang="en-US" sz="2200" dirty="0" smtClean="0"/>
          </a:p>
          <a:p>
            <a:r>
              <a:rPr lang="en-US" sz="2200" dirty="0" smtClean="0"/>
              <a:t>ride charge</a:t>
            </a:r>
            <a:endParaRPr lang="en-US" sz="2200" dirty="0" smtClean="0"/>
          </a:p>
          <a:p>
            <a:r>
              <a:rPr lang="en-US" sz="2200" dirty="0" smtClean="0"/>
              <a:t>misc charge</a:t>
            </a:r>
            <a:endParaRPr lang="en-US" sz="2200" dirty="0" smtClean="0"/>
          </a:p>
          <a:p>
            <a:r>
              <a:rPr lang="en-US" sz="2200" dirty="0" smtClean="0"/>
              <a:t>total fare</a:t>
            </a:r>
            <a:endParaRPr lang="en-US" sz="2200" dirty="0" smtClean="0"/>
          </a:p>
          <a:p>
            <a:r>
              <a:rPr lang="en-US" sz="2000" dirty="0" smtClean="0"/>
              <a:t>payment method</a:t>
            </a:r>
            <a:endParaRPr lang="en-US" sz="2000"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TECHNOLOGY USED</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400" b="1" dirty="0" smtClean="0">
                <a:latin typeface="Times New Roman" panose="02020603050405020304" pitchFamily="18" charset="0"/>
                <a:cs typeface="Times New Roman" panose="02020603050405020304" pitchFamily="18" charset="0"/>
              </a:rPr>
              <a:t>Microsoft Excel</a:t>
            </a:r>
            <a:r>
              <a:rPr lang="en-US" sz="2400" dirty="0" smtClean="0">
                <a:latin typeface="Times New Roman" panose="02020603050405020304" pitchFamily="18" charset="0"/>
                <a:cs typeface="Times New Roman" panose="02020603050405020304" pitchFamily="18" charset="0"/>
              </a:rPr>
              <a:t> – Data source (ride dataset)</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b="1" dirty="0" smtClean="0">
                <a:latin typeface="Times New Roman" panose="02020603050405020304" pitchFamily="18" charset="0"/>
                <a:cs typeface="Times New Roman" panose="02020603050405020304" pitchFamily="18" charset="0"/>
              </a:rPr>
              <a:t>Power BI Desktop</a:t>
            </a:r>
            <a:r>
              <a:rPr lang="en-US" sz="2400" dirty="0" smtClean="0">
                <a:latin typeface="Times New Roman" panose="02020603050405020304" pitchFamily="18" charset="0"/>
                <a:cs typeface="Times New Roman" panose="02020603050405020304" pitchFamily="18" charset="0"/>
              </a:rPr>
              <a:t> – Dashboard creation</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b="1" dirty="0" smtClean="0">
                <a:latin typeface="Times New Roman" panose="02020603050405020304" pitchFamily="18" charset="0"/>
                <a:cs typeface="Times New Roman" panose="02020603050405020304" pitchFamily="18" charset="0"/>
              </a:rPr>
              <a:t>Power Query</a:t>
            </a:r>
            <a:r>
              <a:rPr lang="en-US" sz="2400" dirty="0" smtClean="0">
                <a:latin typeface="Times New Roman" panose="02020603050405020304" pitchFamily="18" charset="0"/>
                <a:cs typeface="Times New Roman" panose="02020603050405020304" pitchFamily="18" charset="0"/>
              </a:rPr>
              <a:t> – Data cleaning &amp; transformation</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b="1" dirty="0" smtClean="0">
                <a:latin typeface="Times New Roman" panose="02020603050405020304" pitchFamily="18" charset="0"/>
                <a:cs typeface="Times New Roman" panose="02020603050405020304" pitchFamily="18" charset="0"/>
              </a:rPr>
              <a:t>DAX (Data Analysis Expressions)</a:t>
            </a:r>
            <a:r>
              <a:rPr lang="en-US" sz="2400" dirty="0" smtClean="0">
                <a:latin typeface="Times New Roman" panose="02020603050405020304" pitchFamily="18" charset="0"/>
                <a:cs typeface="Times New Roman" panose="02020603050405020304" pitchFamily="18" charset="0"/>
              </a:rPr>
              <a:t> – KPI and measure calculations</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b="1" dirty="0" smtClean="0">
                <a:latin typeface="Times New Roman" panose="02020603050405020304" pitchFamily="18" charset="0"/>
                <a:cs typeface="Times New Roman" panose="02020603050405020304" pitchFamily="18" charset="0"/>
              </a:rPr>
              <a:t>Power BI Visualizations</a:t>
            </a:r>
            <a:r>
              <a:rPr lang="en-US" sz="2400" dirty="0" smtClean="0">
                <a:latin typeface="Times New Roman" panose="02020603050405020304" pitchFamily="18" charset="0"/>
                <a:cs typeface="Times New Roman" panose="02020603050405020304" pitchFamily="18" charset="0"/>
              </a:rPr>
              <a:t> – Charts, Cards, and Slicers for analysis</a:t>
            </a:r>
            <a:endParaRPr lang="en-US" sz="2400" dirty="0" smtClean="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DATA PREPROCESSING</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fontScale="92500"/>
          </a:bodyPr>
          <a:lstStyle/>
          <a:p>
            <a:pPr>
              <a:lnSpc>
                <a:spcPct val="150000"/>
              </a:lnSpc>
            </a:pPr>
            <a:r>
              <a:rPr lang="en-US" sz="2400" dirty="0" smtClean="0">
                <a:latin typeface="Times New Roman" panose="02020603050405020304" pitchFamily="18" charset="0"/>
                <a:cs typeface="Times New Roman" panose="02020603050405020304" pitchFamily="18" charset="0"/>
              </a:rPr>
              <a:t>Changed data types (Date, Number, Text) correctly.</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Removed duplicate records using </a:t>
            </a:r>
            <a:r>
              <a:rPr lang="en-US" sz="2400" b="1" dirty="0" smtClean="0">
                <a:latin typeface="Times New Roman" panose="02020603050405020304" pitchFamily="18" charset="0"/>
                <a:cs typeface="Times New Roman" panose="02020603050405020304" pitchFamily="18" charset="0"/>
              </a:rPr>
              <a:t>ride_id</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Handled missing (null) values in fare, distance, and payment columns.</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Standardized service names (Auto, Bike, Cab Economy, Parcel).</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Trimmed unwanted spaces in text columns.</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Converted and validated the date column format.</a:t>
            </a:r>
            <a:endParaRPr lang="en-US" sz="2400" dirty="0" smtClean="0">
              <a:latin typeface="Times New Roman" panose="02020603050405020304" pitchFamily="18" charset="0"/>
              <a:cs typeface="Times New Roman" panose="02020603050405020304" pitchFamily="18" charset="0"/>
            </a:endParaRPr>
          </a:p>
          <a:p>
            <a:pPr>
              <a:lnSpc>
                <a:spcPct val="150000"/>
              </a:lnSpc>
            </a:pPr>
            <a:r>
              <a:rPr lang="en-US" sz="2400" dirty="0" smtClean="0">
                <a:latin typeface="Times New Roman" panose="02020603050405020304" pitchFamily="18" charset="0"/>
                <a:cs typeface="Times New Roman" panose="02020603050405020304" pitchFamily="18" charset="0"/>
              </a:rPr>
              <a:t>Created necessary calculated columns for analysis.</a:t>
            </a:r>
            <a:endParaRPr lang="en-US" sz="24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KEY METRICS AND KPI’S</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anose="02020603050405020304" pitchFamily="18" charset="0"/>
                <a:cs typeface="Times New Roman" panose="02020603050405020304" pitchFamily="18" charset="0"/>
              </a:rPr>
              <a:t>Total Rides:</a:t>
            </a:r>
            <a:r>
              <a:rPr lang="en-US" sz="2000" dirty="0" smtClean="0">
                <a:latin typeface="Times New Roman" panose="02020603050405020304" pitchFamily="18" charset="0"/>
                <a:cs typeface="Times New Roman" panose="02020603050405020304" pitchFamily="18" charset="0"/>
              </a:rPr>
              <a:t> Total number of rides completed during a specific period.</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Total Revenue:</a:t>
            </a:r>
            <a:r>
              <a:rPr lang="en-US" sz="2000" dirty="0" smtClean="0">
                <a:latin typeface="Times New Roman" panose="02020603050405020304" pitchFamily="18" charset="0"/>
                <a:cs typeface="Times New Roman" panose="02020603050405020304" pitchFamily="18" charset="0"/>
              </a:rPr>
              <a:t> Total income generated from all completed rides.</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Completion Rate:</a:t>
            </a:r>
            <a:r>
              <a:rPr lang="en-US" sz="2000" dirty="0" smtClean="0">
                <a:latin typeface="Times New Roman" panose="02020603050405020304" pitchFamily="18" charset="0"/>
                <a:cs typeface="Times New Roman" panose="02020603050405020304" pitchFamily="18" charset="0"/>
              </a:rPr>
              <a:t> Percentage of rides successfully completed out of total rides, indicating overall operational efficiency and service reliability.</a:t>
            </a:r>
            <a:endParaRPr lang="en-US" sz="2000" dirty="0">
              <a:latin typeface="Times New Roman" panose="02020603050405020304" pitchFamily="18" charset="0"/>
              <a:cs typeface="Times New Roman" panose="02020603050405020304" pitchFamily="18" charset="0"/>
            </a:endParaRPr>
          </a:p>
        </p:txBody>
      </p:sp>
      <p:pic>
        <p:nvPicPr>
          <p:cNvPr id="4" name="Picture 3" descr="Screenshot 2026-03-03 195256.png"/>
          <p:cNvPicPr>
            <a:picLocks noChangeAspect="1"/>
          </p:cNvPicPr>
          <p:nvPr/>
        </p:nvPicPr>
        <p:blipFill>
          <a:blip r:embed="rId1"/>
          <a:stretch>
            <a:fillRect/>
          </a:stretch>
        </p:blipFill>
        <p:spPr>
          <a:xfrm>
            <a:off x="1857356" y="4714884"/>
            <a:ext cx="5286412" cy="13573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DATA MODELING- OVERVIEW</a:t>
            </a:r>
            <a:endParaRPr lang="en-US" sz="3200" b="1" dirty="0">
              <a:solidFill>
                <a:srgbClr val="FF6600"/>
              </a:solidFill>
              <a:latin typeface="Times New Roman" panose="02020603050405020304" pitchFamily="18" charset="0"/>
              <a:cs typeface="Times New Roman" panose="02020603050405020304" pitchFamily="18" charset="0"/>
            </a:endParaRPr>
          </a:p>
        </p:txBody>
      </p:sp>
      <p:pic>
        <p:nvPicPr>
          <p:cNvPr id="4" name="Content Placeholder 3" descr="Screenshot 2026-03-03 195811.png"/>
          <p:cNvPicPr>
            <a:picLocks noGrp="1" noChangeAspect="1"/>
          </p:cNvPicPr>
          <p:nvPr>
            <p:ph sz="quarter" idx="1"/>
          </p:nvPr>
        </p:nvPicPr>
        <p:blipFill>
          <a:blip r:embed="rId1"/>
          <a:stretch>
            <a:fillRect/>
          </a:stretch>
        </p:blipFill>
        <p:spPr>
          <a:xfrm>
            <a:off x="1323489" y="1599902"/>
            <a:ext cx="6954221" cy="426779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DAX MEASURES</a:t>
            </a:r>
            <a:endParaRPr lang="en-US" sz="32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nSpc>
                <a:spcPct val="150000"/>
              </a:lnSpc>
            </a:pPr>
            <a:r>
              <a:rPr lang="en-IN" sz="2000" dirty="0" smtClean="0">
                <a:latin typeface="Times New Roman" panose="02020603050405020304" pitchFamily="18" charset="0"/>
                <a:cs typeface="Times New Roman" panose="02020603050405020304" pitchFamily="18" charset="0"/>
              </a:rPr>
              <a:t>Dax is called as Data Analytics Expression.</a:t>
            </a:r>
            <a:endParaRPr lang="en-IN" sz="2000" dirty="0" smtClean="0">
              <a:latin typeface="Times New Roman" panose="02020603050405020304" pitchFamily="18" charset="0"/>
              <a:cs typeface="Times New Roman" panose="02020603050405020304" pitchFamily="18" charset="0"/>
            </a:endParaRPr>
          </a:p>
          <a:p>
            <a:pPr>
              <a:lnSpc>
                <a:spcPct val="150000"/>
              </a:lnSpc>
            </a:pPr>
            <a:r>
              <a:rPr lang="en-IN" sz="2000" dirty="0" smtClean="0">
                <a:latin typeface="Times New Roman" panose="02020603050405020304" pitchFamily="18" charset="0"/>
                <a:cs typeface="Times New Roman" panose="02020603050405020304" pitchFamily="18" charset="0"/>
              </a:rPr>
              <a:t>Dax is a formula language used in power BI.</a:t>
            </a:r>
            <a:endParaRPr lang="en-IN" sz="2000" dirty="0" smtClean="0">
              <a:latin typeface="Times New Roman" panose="02020603050405020304" pitchFamily="18" charset="0"/>
              <a:cs typeface="Times New Roman" panose="02020603050405020304" pitchFamily="18" charset="0"/>
            </a:endParaRPr>
          </a:p>
          <a:p>
            <a:pPr>
              <a:lnSpc>
                <a:spcPct val="150000"/>
              </a:lnSpc>
            </a:pPr>
            <a:r>
              <a:rPr lang="en-IN" sz="2000" dirty="0" smtClean="0">
                <a:latin typeface="Times New Roman" panose="02020603050405020304" pitchFamily="18" charset="0"/>
                <a:cs typeface="Times New Roman" panose="02020603050405020304" pitchFamily="18" charset="0"/>
              </a:rPr>
              <a:t>To perform calculations and data analysis.</a:t>
            </a:r>
            <a:endParaRPr lang="en-IN" sz="2000" dirty="0" smtClean="0">
              <a:latin typeface="Times New Roman" panose="02020603050405020304" pitchFamily="18" charset="0"/>
              <a:cs typeface="Times New Roman" panose="02020603050405020304" pitchFamily="18" charset="0"/>
            </a:endParaRPr>
          </a:p>
          <a:p>
            <a:pPr>
              <a:buNone/>
            </a:pPr>
            <a:r>
              <a:rPr lang="en-IN" sz="2800" b="1" dirty="0" smtClean="0">
                <a:solidFill>
                  <a:srgbClr val="FF6600"/>
                </a:solidFill>
                <a:latin typeface="Times New Roman" panose="02020603050405020304" pitchFamily="18" charset="0"/>
                <a:cs typeface="Times New Roman" panose="02020603050405020304" pitchFamily="18" charset="0"/>
              </a:rPr>
              <a:t>Measures :</a:t>
            </a:r>
            <a:endParaRPr lang="en-IN" sz="2800" b="1" dirty="0" smtClean="0">
              <a:solidFill>
                <a:srgbClr val="FF6600"/>
              </a:solidFill>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Total Rides</a:t>
            </a:r>
            <a:r>
              <a:rPr lang="en-US" sz="2000" dirty="0" smtClean="0">
                <a:latin typeface="Times New Roman" panose="02020603050405020304" pitchFamily="18" charset="0"/>
                <a:cs typeface="Times New Roman" panose="02020603050405020304" pitchFamily="18" charset="0"/>
              </a:rPr>
              <a:t> = COUNT('</a:t>
            </a:r>
            <a:r>
              <a:rPr lang="en-US" sz="2000" dirty="0" err="1" smtClean="0">
                <a:latin typeface="Times New Roman" panose="02020603050405020304" pitchFamily="18" charset="0"/>
                <a:cs typeface="Times New Roman" panose="02020603050405020304" pitchFamily="18" charset="0"/>
              </a:rPr>
              <a:t>Rapido</a:t>
            </a:r>
            <a:r>
              <a:rPr lang="en-US" sz="2000" dirty="0" smtClean="0">
                <a:latin typeface="Times New Roman" panose="02020603050405020304" pitchFamily="18" charset="0"/>
                <a:cs typeface="Times New Roman" panose="02020603050405020304" pitchFamily="18" charset="0"/>
              </a:rPr>
              <a:t> Riders'[ride_id])</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Total Revenue</a:t>
            </a:r>
            <a:r>
              <a:rPr lang="en-US" sz="2000" dirty="0" smtClean="0">
                <a:latin typeface="Times New Roman" panose="02020603050405020304" pitchFamily="18" charset="0"/>
                <a:cs typeface="Times New Roman" panose="02020603050405020304" pitchFamily="18" charset="0"/>
              </a:rPr>
              <a:t> = SUM('</a:t>
            </a:r>
            <a:r>
              <a:rPr lang="en-US" sz="2000" dirty="0" err="1" smtClean="0">
                <a:latin typeface="Times New Roman" panose="02020603050405020304" pitchFamily="18" charset="0"/>
                <a:cs typeface="Times New Roman" panose="02020603050405020304" pitchFamily="18" charset="0"/>
              </a:rPr>
              <a:t>Rapido</a:t>
            </a:r>
            <a:r>
              <a:rPr lang="en-US" sz="2000" dirty="0" smtClean="0">
                <a:latin typeface="Times New Roman" panose="02020603050405020304" pitchFamily="18" charset="0"/>
                <a:cs typeface="Times New Roman" panose="02020603050405020304" pitchFamily="18" charset="0"/>
              </a:rPr>
              <a:t> Riders'[</a:t>
            </a:r>
            <a:r>
              <a:rPr lang="en-US" sz="2000" dirty="0" err="1" smtClean="0">
                <a:latin typeface="Times New Roman" panose="02020603050405020304" pitchFamily="18" charset="0"/>
                <a:cs typeface="Times New Roman" panose="02020603050405020304" pitchFamily="18" charset="0"/>
              </a:rPr>
              <a:t>total_fare</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a:lnSpc>
                <a:spcPct val="150000"/>
              </a:lnSpc>
              <a:buNone/>
            </a:pPr>
            <a:endParaRPr lang="en-US" sz="2000" b="1" dirty="0">
              <a:solidFill>
                <a:srgbClr val="FF66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anose="02020603050405020304" pitchFamily="18" charset="0"/>
                <a:cs typeface="Times New Roman" panose="02020603050405020304" pitchFamily="18" charset="0"/>
              </a:rPr>
              <a:t>POWER BI DASHBOARD OVERVIEW</a:t>
            </a:r>
            <a:endParaRPr lang="en-US" sz="3200" b="1" dirty="0">
              <a:solidFill>
                <a:srgbClr val="FF6600"/>
              </a:solidFill>
              <a:latin typeface="Times New Roman" panose="02020603050405020304" pitchFamily="18" charset="0"/>
              <a:cs typeface="Times New Roman" panose="02020603050405020304" pitchFamily="18" charset="0"/>
            </a:endParaRPr>
          </a:p>
        </p:txBody>
      </p:sp>
      <p:pic>
        <p:nvPicPr>
          <p:cNvPr id="6" name="Content Placeholder 5" descr="Screenshot 2026-03-03 201632.png"/>
          <p:cNvPicPr>
            <a:picLocks noGrp="1" noChangeAspect="1"/>
          </p:cNvPicPr>
          <p:nvPr>
            <p:ph sz="quarter" idx="1"/>
          </p:nvPr>
        </p:nvPicPr>
        <p:blipFill>
          <a:blip r:embed="rId1"/>
          <a:stretch>
            <a:fillRect/>
          </a:stretch>
        </p:blipFill>
        <p:spPr>
          <a:xfrm>
            <a:off x="914400" y="1769165"/>
            <a:ext cx="7772400" cy="392927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RIDE STATUS IMPACT ANALYSIS</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anose="02020603050405020304" pitchFamily="18" charset="0"/>
                <a:cs typeface="Times New Roman" panose="02020603050405020304" pitchFamily="18" charset="0"/>
              </a:rPr>
              <a:t>Donut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show the percentage distribution of ride status. It clearly represents the proportion of completed and cancelled rides</a:t>
            </a:r>
            <a:r>
              <a:rPr lang="en-US" sz="2000" dirty="0" smtClean="0"/>
              <a:t>.</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Legend:</a:t>
            </a:r>
            <a:r>
              <a:rPr lang="en-US" sz="2000" dirty="0" smtClean="0">
                <a:latin typeface="Times New Roman" panose="02020603050405020304" pitchFamily="18" charset="0"/>
                <a:cs typeface="Times New Roman" panose="02020603050405020304" pitchFamily="18" charset="0"/>
              </a:rPr>
              <a:t> Ride Status (Complete, Cancelled)</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Values:</a:t>
            </a:r>
            <a:r>
              <a:rPr lang="en-US" sz="2000" dirty="0" smtClean="0">
                <a:latin typeface="Times New Roman" panose="02020603050405020304" pitchFamily="18" charset="0"/>
                <a:cs typeface="Times New Roman" panose="02020603050405020304" pitchFamily="18" charset="0"/>
              </a:rPr>
              <a:t> Total Number of Rides</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a:p>
        </p:txBody>
      </p:sp>
      <p:pic>
        <p:nvPicPr>
          <p:cNvPr id="4" name="Picture 3" descr="Screenshot 2026-03-03 202448.png"/>
          <p:cNvPicPr>
            <a:picLocks noChangeAspect="1"/>
          </p:cNvPicPr>
          <p:nvPr/>
        </p:nvPicPr>
        <p:blipFill>
          <a:blip r:embed="rId1"/>
          <a:stretch>
            <a:fillRect/>
          </a:stretch>
        </p:blipFill>
        <p:spPr>
          <a:xfrm>
            <a:off x="4429124" y="4071942"/>
            <a:ext cx="3143689" cy="171451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PEAK DEMAND IDENTIFICATION</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anose="02020603050405020304" pitchFamily="18" charset="0"/>
                <a:cs typeface="Times New Roman" panose="02020603050405020304" pitchFamily="18" charset="0"/>
              </a:rPr>
              <a:t>Clustered Column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compare ride demand across different time periods and identify peak demand hours.</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X-Axis:</a:t>
            </a:r>
            <a:r>
              <a:rPr lang="en-US" sz="2000" dirty="0" smtClean="0">
                <a:latin typeface="Times New Roman" panose="02020603050405020304" pitchFamily="18" charset="0"/>
                <a:cs typeface="Times New Roman" panose="02020603050405020304" pitchFamily="18" charset="0"/>
              </a:rPr>
              <a:t> Time Period (Morning, Afternoon, Evening, Night)</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Y-Axis:</a:t>
            </a:r>
            <a:r>
              <a:rPr lang="en-US" sz="2000" dirty="0" smtClean="0">
                <a:latin typeface="Times New Roman" panose="02020603050405020304" pitchFamily="18" charset="0"/>
                <a:cs typeface="Times New Roman" panose="02020603050405020304" pitchFamily="18" charset="0"/>
              </a:rPr>
              <a:t> Total Number of Rides</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a:p>
        </p:txBody>
      </p:sp>
      <p:pic>
        <p:nvPicPr>
          <p:cNvPr id="5" name="Picture 4" descr="Screenshot 2026-03-03 203222.png"/>
          <p:cNvPicPr>
            <a:picLocks noChangeAspect="1"/>
          </p:cNvPicPr>
          <p:nvPr/>
        </p:nvPicPr>
        <p:blipFill>
          <a:blip r:embed="rId1"/>
          <a:stretch>
            <a:fillRect/>
          </a:stretch>
        </p:blipFill>
        <p:spPr>
          <a:xfrm>
            <a:off x="2795939" y="4071942"/>
            <a:ext cx="3457657" cy="185738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DURATION EFFICIENCY ANALYSIS</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anose="02020603050405020304" pitchFamily="18" charset="0"/>
                <a:cs typeface="Times New Roman" panose="02020603050405020304" pitchFamily="18" charset="0"/>
              </a:rPr>
              <a:t>Bar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analyze the average ride duration across different service types and evaluate operational efficiency.</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Y-Axis:</a:t>
            </a:r>
            <a:r>
              <a:rPr lang="en-US" sz="2000" dirty="0" smtClean="0">
                <a:latin typeface="Times New Roman" panose="02020603050405020304" pitchFamily="18" charset="0"/>
                <a:cs typeface="Times New Roman" panose="02020603050405020304" pitchFamily="18" charset="0"/>
              </a:rPr>
              <a:t> Services (Auto, Bike, Cab Economy, Parcel)</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X-Axis:</a:t>
            </a:r>
            <a:r>
              <a:rPr lang="en-US" sz="2000" dirty="0" smtClean="0">
                <a:latin typeface="Times New Roman" panose="02020603050405020304" pitchFamily="18" charset="0"/>
                <a:cs typeface="Times New Roman" panose="02020603050405020304" pitchFamily="18" charset="0"/>
              </a:rPr>
              <a:t> Average Duration</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descr="Screenshot 2026-03-03 204614.png"/>
          <p:cNvPicPr>
            <a:picLocks noChangeAspect="1"/>
          </p:cNvPicPr>
          <p:nvPr/>
        </p:nvPicPr>
        <p:blipFill>
          <a:blip r:embed="rId1"/>
          <a:stretch>
            <a:fillRect/>
          </a:stretch>
        </p:blipFill>
        <p:spPr>
          <a:xfrm>
            <a:off x="3071802" y="4214818"/>
            <a:ext cx="3357586" cy="170042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PAYMENT METHOD PERFORMANCE</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anose="02020603050405020304" pitchFamily="18" charset="0"/>
                <a:cs typeface="Times New Roman" panose="02020603050405020304" pitchFamily="18" charset="0"/>
              </a:rPr>
              <a:t>Pie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show the percentage distribution of rides across different payment methods. It helps analyze customer payment preferences.</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Legend:</a:t>
            </a:r>
            <a:r>
              <a:rPr lang="en-US" sz="2000" dirty="0" smtClean="0">
                <a:latin typeface="Times New Roman" panose="02020603050405020304" pitchFamily="18" charset="0"/>
                <a:cs typeface="Times New Roman" panose="02020603050405020304" pitchFamily="18" charset="0"/>
              </a:rPr>
              <a:t> Payment Method (</a:t>
            </a:r>
            <a:r>
              <a:rPr lang="en-US" sz="2000" dirty="0" err="1" smtClean="0">
                <a:latin typeface="Times New Roman" panose="02020603050405020304" pitchFamily="18" charset="0"/>
                <a:cs typeface="Times New Roman" panose="02020603050405020304" pitchFamily="18" charset="0"/>
              </a:rPr>
              <a:t>Paytm</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Gpay</a:t>
            </a:r>
            <a:r>
              <a:rPr lang="en-US" sz="2000" dirty="0" smtClean="0">
                <a:latin typeface="Times New Roman" panose="02020603050405020304" pitchFamily="18" charset="0"/>
                <a:cs typeface="Times New Roman" panose="02020603050405020304" pitchFamily="18" charset="0"/>
              </a:rPr>
              <a:t>, Amazon Pay, QR Scan, etc.)</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Values:</a:t>
            </a:r>
            <a:r>
              <a:rPr lang="en-US" sz="2000" dirty="0" smtClean="0">
                <a:latin typeface="Times New Roman" panose="02020603050405020304" pitchFamily="18" charset="0"/>
                <a:cs typeface="Times New Roman" panose="02020603050405020304" pitchFamily="18" charset="0"/>
              </a:rPr>
              <a:t> Total Number of Rides</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4" name="Picture 3" descr="Screenshot 2026-03-03 205301.png"/>
          <p:cNvPicPr>
            <a:picLocks noChangeAspect="1"/>
          </p:cNvPicPr>
          <p:nvPr/>
        </p:nvPicPr>
        <p:blipFill>
          <a:blip r:embed="rId1"/>
          <a:stretch>
            <a:fillRect/>
          </a:stretch>
        </p:blipFill>
        <p:spPr>
          <a:xfrm>
            <a:off x="3357555" y="4500570"/>
            <a:ext cx="3143272" cy="150019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TOP DESTINATION LOCATION</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anose="02020603050405020304" pitchFamily="18" charset="0"/>
                <a:cs typeface="Times New Roman" panose="02020603050405020304" pitchFamily="18" charset="0"/>
              </a:rPr>
              <a:t>Bar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identify the top destination locations based on the number of rides. It helps understand high-demand drop-off areas.</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Y-Axis:</a:t>
            </a:r>
            <a:r>
              <a:rPr lang="en-US" sz="2000" dirty="0" smtClean="0">
                <a:latin typeface="Times New Roman" panose="02020603050405020304" pitchFamily="18" charset="0"/>
                <a:cs typeface="Times New Roman" panose="02020603050405020304" pitchFamily="18" charset="0"/>
              </a:rPr>
              <a:t> Destination Location (</a:t>
            </a:r>
            <a:r>
              <a:rPr lang="en-US" sz="2000" dirty="0" err="1" smtClean="0">
                <a:latin typeface="Times New Roman" panose="02020603050405020304" pitchFamily="18" charset="0"/>
                <a:cs typeface="Times New Roman" panose="02020603050405020304" pitchFamily="18" charset="0"/>
              </a:rPr>
              <a:t>Yeshwanthpur</a:t>
            </a:r>
            <a:r>
              <a:rPr lang="en-US" sz="2000" dirty="0" smtClean="0">
                <a:latin typeface="Times New Roman" panose="02020603050405020304" pitchFamily="18" charset="0"/>
                <a:cs typeface="Times New Roman" panose="02020603050405020304" pitchFamily="18" charset="0"/>
              </a:rPr>
              <a:t> Way, </a:t>
            </a:r>
            <a:r>
              <a:rPr lang="en-US" sz="2000" dirty="0" err="1" smtClean="0">
                <a:latin typeface="Times New Roman" panose="02020603050405020304" pitchFamily="18" charset="0"/>
                <a:cs typeface="Times New Roman" panose="02020603050405020304" pitchFamily="18" charset="0"/>
              </a:rPr>
              <a:t>Yeshwanthpur</a:t>
            </a:r>
            <a:r>
              <a:rPr lang="en-US" sz="2000" dirty="0" smtClean="0">
                <a:latin typeface="Times New Roman" panose="02020603050405020304" pitchFamily="18" charset="0"/>
                <a:cs typeface="Times New Roman" panose="02020603050405020304" pitchFamily="18" charset="0"/>
              </a:rPr>
              <a:t> Woods, etc.)</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X-Axis:</a:t>
            </a:r>
            <a:r>
              <a:rPr lang="en-US" sz="2000" dirty="0" smtClean="0">
                <a:latin typeface="Times New Roman" panose="02020603050405020304" pitchFamily="18" charset="0"/>
                <a:cs typeface="Times New Roman" panose="02020603050405020304" pitchFamily="18" charset="0"/>
              </a:rPr>
              <a:t> Total Number of Rides</a:t>
            </a:r>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endParaRPr lang="en-US" dirty="0"/>
          </a:p>
        </p:txBody>
      </p:sp>
      <p:pic>
        <p:nvPicPr>
          <p:cNvPr id="4" name="Picture 3" descr="Screenshot 2026-03-03 205647.png"/>
          <p:cNvPicPr>
            <a:picLocks noChangeAspect="1"/>
          </p:cNvPicPr>
          <p:nvPr/>
        </p:nvPicPr>
        <p:blipFill>
          <a:blip r:embed="rId1"/>
          <a:stretch>
            <a:fillRect/>
          </a:stretch>
        </p:blipFill>
        <p:spPr>
          <a:xfrm>
            <a:off x="3286116" y="4357694"/>
            <a:ext cx="3677163" cy="156707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anose="02020603050405020304" pitchFamily="18" charset="0"/>
                <a:cs typeface="Times New Roman" panose="02020603050405020304" pitchFamily="18" charset="0"/>
              </a:rPr>
              <a:t>DAILY DEMAND TREND</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anose="02020603050405020304" pitchFamily="18" charset="0"/>
                <a:cs typeface="Times New Roman" panose="02020603050405020304" pitchFamily="18" charset="0"/>
              </a:rPr>
              <a:t>Line Chart: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This chart is used to analyze the daily ride demand trend over a period of time and identify fluctuations in ride volume.</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X-Axis:</a:t>
            </a:r>
            <a:r>
              <a:rPr lang="en-US" sz="2000" dirty="0" smtClean="0">
                <a:latin typeface="Times New Roman" panose="02020603050405020304" pitchFamily="18" charset="0"/>
                <a:cs typeface="Times New Roman" panose="02020603050405020304" pitchFamily="18" charset="0"/>
              </a:rPr>
              <a:t> Date</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Y-Axis:</a:t>
            </a:r>
            <a:r>
              <a:rPr lang="en-US" sz="2000" dirty="0" smtClean="0">
                <a:latin typeface="Times New Roman" panose="02020603050405020304" pitchFamily="18" charset="0"/>
                <a:cs typeface="Times New Roman" panose="02020603050405020304" pitchFamily="18" charset="0"/>
              </a:rPr>
              <a:t> Total Number of Rides</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Legend:</a:t>
            </a:r>
            <a:r>
              <a:rPr lang="en-US" sz="2000" dirty="0" smtClean="0">
                <a:latin typeface="Times New Roman" panose="02020603050405020304" pitchFamily="18" charset="0"/>
                <a:cs typeface="Times New Roman" panose="02020603050405020304" pitchFamily="18" charset="0"/>
              </a:rPr>
              <a:t> Month Name (June, July, August)</a:t>
            </a:r>
            <a:endParaRPr lang="en-US" sz="2000" dirty="0" smtClean="0">
              <a:latin typeface="Times New Roman" panose="02020603050405020304" pitchFamily="18" charset="0"/>
              <a:cs typeface="Times New Roman" panose="02020603050405020304" pitchFamily="18" charset="0"/>
            </a:endParaRPr>
          </a:p>
          <a:p>
            <a:endParaRPr lang="en-US" dirty="0"/>
          </a:p>
        </p:txBody>
      </p:sp>
      <p:pic>
        <p:nvPicPr>
          <p:cNvPr id="5" name="Picture 4" descr="Screenshot 2026-03-04 084158.png"/>
          <p:cNvPicPr>
            <a:picLocks noChangeAspect="1"/>
          </p:cNvPicPr>
          <p:nvPr/>
        </p:nvPicPr>
        <p:blipFill>
          <a:blip r:embed="rId1"/>
          <a:stretch>
            <a:fillRect/>
          </a:stretch>
        </p:blipFill>
        <p:spPr>
          <a:xfrm>
            <a:off x="2071670" y="4500570"/>
            <a:ext cx="3162742" cy="152421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smtClean="0">
                <a:solidFill>
                  <a:srgbClr val="FF6600"/>
                </a:solidFill>
                <a:latin typeface="Times New Roman" panose="02020603050405020304" pitchFamily="18" charset="0"/>
                <a:cs typeface="Times New Roman" panose="02020603050405020304" pitchFamily="18" charset="0"/>
              </a:rPr>
              <a:t>CONCLUSION</a:t>
            </a:r>
            <a:endParaRPr lang="en-US" sz="2800" b="1" dirty="0">
              <a:solidFill>
                <a:srgbClr val="FF66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914400" y="1447800"/>
            <a:ext cx="7772400" cy="5053034"/>
          </a:xfrm>
        </p:spPr>
        <p:txBody>
          <a:bodyPr>
            <a:normAutofit/>
          </a:bodyPr>
          <a:lstStyle/>
          <a:p>
            <a:pPr>
              <a:lnSpc>
                <a:spcPct val="110000"/>
              </a:lnSpc>
            </a:pPr>
            <a:r>
              <a:rPr lang="en-US" sz="2000" dirty="0" smtClean="0">
                <a:latin typeface="Times New Roman" panose="02020603050405020304" pitchFamily="18" charset="0"/>
                <a:cs typeface="Times New Roman" panose="02020603050405020304" pitchFamily="18" charset="0"/>
              </a:rPr>
              <a:t>The </a:t>
            </a:r>
            <a:r>
              <a:rPr lang="en-US" sz="2000" dirty="0" err="1" smtClean="0">
                <a:latin typeface="Times New Roman" panose="02020603050405020304" pitchFamily="18" charset="0"/>
                <a:cs typeface="Times New Roman" panose="02020603050405020304" pitchFamily="18" charset="0"/>
              </a:rPr>
              <a:t>Rapido</a:t>
            </a:r>
            <a:r>
              <a:rPr lang="en-US" sz="2000" dirty="0" smtClean="0">
                <a:latin typeface="Times New Roman" panose="02020603050405020304" pitchFamily="18" charset="0"/>
                <a:cs typeface="Times New Roman" panose="02020603050405020304" pitchFamily="18" charset="0"/>
              </a:rPr>
              <a:t> Riders Dashboard in Power BI provides a comprehensive view of ride demand, revenue performance, service contribution, and operational efficiency.</a:t>
            </a:r>
            <a:endParaRPr lang="en-US" sz="2000" dirty="0" smtClean="0">
              <a:latin typeface="Times New Roman" panose="02020603050405020304" pitchFamily="18" charset="0"/>
              <a:cs typeface="Times New Roman" panose="02020603050405020304" pitchFamily="18" charset="0"/>
            </a:endParaRPr>
          </a:p>
          <a:p>
            <a:pPr>
              <a:lnSpc>
                <a:spcPct val="110000"/>
              </a:lnSpc>
            </a:pPr>
            <a:r>
              <a:rPr lang="en-US" sz="2000" dirty="0" smtClean="0">
                <a:latin typeface="Times New Roman" panose="02020603050405020304" pitchFamily="18" charset="0"/>
                <a:cs typeface="Times New Roman" panose="02020603050405020304" pitchFamily="18" charset="0"/>
              </a:rPr>
              <a:t>The analysis shows a strong completion rate of 90%, indicating stable service performance, while the 10% cancellation rate highlights opportunities for operational improvement. Peak demand trends help in better driver allocation, and service-wise analysis identifies top-performing ride categories.</a:t>
            </a:r>
            <a:endParaRPr lang="en-US" sz="2000" dirty="0" smtClean="0">
              <a:latin typeface="Times New Roman" panose="02020603050405020304" pitchFamily="18" charset="0"/>
              <a:cs typeface="Times New Roman" panose="02020603050405020304" pitchFamily="18" charset="0"/>
            </a:endParaRPr>
          </a:p>
          <a:p>
            <a:pPr>
              <a:lnSpc>
                <a:spcPct val="110000"/>
              </a:lnSpc>
            </a:pPr>
            <a:r>
              <a:rPr lang="en-US" sz="2000" dirty="0" smtClean="0">
                <a:latin typeface="Times New Roman" panose="02020603050405020304" pitchFamily="18" charset="0"/>
                <a:cs typeface="Times New Roman" panose="02020603050405020304" pitchFamily="18" charset="0"/>
              </a:rPr>
              <a:t>Payment method insights reveal customer preferences, and profitability analysis helps understand the balance between revenue and operational costs.</a:t>
            </a:r>
            <a:endParaRPr lang="en-US" sz="2000" dirty="0" smtClean="0">
              <a:latin typeface="Times New Roman" panose="02020603050405020304" pitchFamily="18" charset="0"/>
              <a:cs typeface="Times New Roman" panose="02020603050405020304" pitchFamily="18" charset="0"/>
            </a:endParaRPr>
          </a:p>
          <a:p>
            <a:pPr>
              <a:lnSpc>
                <a:spcPct val="110000"/>
              </a:lnSpc>
            </a:pPr>
            <a:r>
              <a:rPr lang="en-US" sz="2000" dirty="0" smtClean="0">
                <a:latin typeface="Times New Roman" panose="02020603050405020304" pitchFamily="18" charset="0"/>
                <a:cs typeface="Times New Roman" panose="02020603050405020304" pitchFamily="18" charset="0"/>
              </a:rPr>
              <a:t>Overall, this dashboard enables data-driven decision-making, improves operational planning, and supports revenue optimization strategies for better business growth.</a:t>
            </a:r>
            <a:endParaRPr lang="en-US" sz="2000" dirty="0" smtClean="0">
              <a:latin typeface="Times New Roman" panose="02020603050405020304" pitchFamily="18" charset="0"/>
              <a:cs typeface="Times New Roman" panose="02020603050405020304" pitchFamily="18" charset="0"/>
            </a:endParaRPr>
          </a:p>
          <a:p>
            <a:pPr>
              <a:lnSpc>
                <a:spcPct val="110000"/>
              </a:lnSpc>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14620"/>
            <a:ext cx="7372376" cy="928694"/>
          </a:xfrm>
        </p:spPr>
        <p:txBody>
          <a:bodyPr>
            <a:normAutofit/>
          </a:bodyPr>
          <a:lstStyle/>
          <a:p>
            <a:pPr algn="ctr"/>
            <a:r>
              <a:rPr lang="en-IN" b="1" dirty="0" smtClean="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US" b="1" dirty="0">
              <a:solidFill>
                <a:srgbClr val="FF66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5469</Words>
  <Application>WPS Presentation</Application>
  <PresentationFormat>On-screen Show (4:3)</PresentationFormat>
  <Paragraphs>131</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Wingdings 2</vt:lpstr>
      <vt:lpstr>Times New Roman</vt:lpstr>
      <vt:lpstr>Perpetua</vt:lpstr>
      <vt:lpstr>Microsoft YaHei</vt:lpstr>
      <vt:lpstr>Arial Unicode MS</vt:lpstr>
      <vt:lpstr>Franklin Gothic Book</vt:lpstr>
      <vt:lpstr>Calibri</vt:lpstr>
      <vt:lpstr>Equity</vt:lpstr>
      <vt:lpstr>RAPIDO RIDE PERFORMANCE</vt:lpstr>
      <vt:lpstr>INTRODUCTION</vt:lpstr>
      <vt:lpstr>PROBLEM STATEMENT</vt:lpstr>
      <vt:lpstr>BUSINESS PROBLEM</vt:lpstr>
      <vt:lpstr>DATA OVERVIEW</vt:lpstr>
      <vt:lpstr>TECHNOLOGY USED</vt:lpstr>
      <vt:lpstr>DATA PREPROCESSING</vt:lpstr>
      <vt:lpstr>KEY METRICS AND KPI’S</vt:lpstr>
      <vt:lpstr>DATA MODELING- OVERVIEW</vt:lpstr>
      <vt:lpstr>DAX MEASURES</vt:lpstr>
      <vt:lpstr>POWER BI DASHBOARD OVERVIEW</vt:lpstr>
      <vt:lpstr>RIDE STATUS IMPACT ANALYSIS</vt:lpstr>
      <vt:lpstr>PEAK DEMAND IDENTIFICATION</vt:lpstr>
      <vt:lpstr>DURATION EFFICIENCY ANALYSIS</vt:lpstr>
      <vt:lpstr>PAYMENT METHOD PERFORMANCE</vt:lpstr>
      <vt:lpstr>TOP DESTINATION LOCATION</vt:lpstr>
      <vt:lpstr>DAILY DEMAND TREND</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RAPIDO RIDE PERFORMANCE</dc:title>
  <dc:creator>Admin</dc:creator>
  <cp:lastModifiedBy>Pavi Prakash</cp:lastModifiedBy>
  <cp:revision>3</cp:revision>
  <dcterms:created xsi:type="dcterms:W3CDTF">2026-03-03T13:08:00Z</dcterms:created>
  <dcterms:modified xsi:type="dcterms:W3CDTF">2026-03-19T08:45:15Z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85D495ED81DA4C2294C29C5A81EDA099_12</vt:lpwstr>
  </property>
  <property fmtid="{D5CDD505-2E9C-101B-9397-08002B2CF9AE}" pid="3" name="KSOProductBuildVer">
    <vt:lpwstr>1033-12.1.0.25242</vt:lpwstr>
  </property>
</Properties>
</file>